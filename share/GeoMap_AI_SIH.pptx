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lat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1417320"/>
            <a:ext cx="7040880" cy="4526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649224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0">
                <a:solidFill>
                  <a:srgbClr val="508750"/>
                </a:solidFill>
                <a:latin typeface="Arial"/>
              </a:rPr>
              <a:t>Smart &amp; Automatic Rural Land Mapping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2103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5F915F"/>
                </a:solidFill>
                <a:latin typeface="Arial"/>
              </a:rPr>
              <a:t>PROBLEM STATEMENT 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68296"/>
            <a:ext cx="6217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Arial"/>
              </a:rPr>
              <a:t>26010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2103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5F915F"/>
                </a:solidFill>
                <a:latin typeface="Arial"/>
              </a:rPr>
              <a:t>PROBLEM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36976"/>
            <a:ext cx="6217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Arial"/>
              </a:rPr>
              <a:t>Survey / Resurvey of Rural Agricultural Land in India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86200"/>
            <a:ext cx="2103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5F915F"/>
                </a:solidFill>
                <a:latin typeface="Arial"/>
              </a:rPr>
              <a:t>ORGANIZATION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05656"/>
            <a:ext cx="6217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Arial"/>
              </a:rPr>
              <a:t>Ministry of Rural Development (Dept. of Land Resources)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54880"/>
            <a:ext cx="2103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5F915F"/>
                </a:solidFill>
                <a:latin typeface="Arial"/>
              </a:rPr>
              <a:t>TEAM 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74336"/>
            <a:ext cx="6217920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lang="en-IN" sz="1500" b="0" dirty="0" err="1">
                <a:solidFill>
                  <a:srgbClr val="232323"/>
                </a:solidFill>
                <a:latin typeface="Arial"/>
              </a:rPr>
              <a:t>Hacksmits</a:t>
            </a:r>
            <a:endParaRPr sz="1500" b="0" dirty="0">
              <a:solidFill>
                <a:srgbClr val="232323"/>
              </a:solidFill>
              <a:latin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02920" y="5897880"/>
            <a:ext cx="70408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9D8CD7-144B-BB24-D796-F8E84D9A9C82}"/>
              </a:ext>
            </a:extLst>
          </p:cNvPr>
          <p:cNvSpPr/>
          <p:nvPr/>
        </p:nvSpPr>
        <p:spPr>
          <a:xfrm>
            <a:off x="8567130" y="190244"/>
            <a:ext cx="1018728" cy="564596"/>
          </a:xfrm>
          <a:prstGeom prst="rect">
            <a:avLst/>
          </a:prstGeom>
        </p:spPr>
        <p:style>
          <a:lnRef idx="1">
            <a:schemeClr val="accent1"/>
          </a:lnRef>
          <a:fillRef idx="1001">
            <a:schemeClr val="l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B39850-2A5F-616A-6BBB-39FD346489DA}"/>
              </a:ext>
            </a:extLst>
          </p:cNvPr>
          <p:cNvSpPr txBox="1"/>
          <p:nvPr/>
        </p:nvSpPr>
        <p:spPr>
          <a:xfrm>
            <a:off x="8610089" y="233203"/>
            <a:ext cx="926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2026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5E838F-4C3F-97FD-97B9-FEF1B8175668}"/>
              </a:ext>
            </a:extLst>
          </p:cNvPr>
          <p:cNvSpPr/>
          <p:nvPr/>
        </p:nvSpPr>
        <p:spPr>
          <a:xfrm>
            <a:off x="11120086" y="711882"/>
            <a:ext cx="644376" cy="25161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lat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8599" y="960120"/>
            <a:ext cx="11891803" cy="5733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17320" y="164592"/>
            <a:ext cx="941832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800" b="1">
                <a:solidFill>
                  <a:srgbClr val="191919"/>
                </a:solidFill>
                <a:latin typeface="Georgia"/>
              </a:rPr>
              <a:t>Problem &amp;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50292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A05F37"/>
                </a:solidFill>
                <a:latin typeface="Arial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1097280"/>
            <a:ext cx="50292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286941"/>
                </a:solidFill>
                <a:latin typeface="Arial"/>
              </a:rPr>
              <a:t>OUR SOLUTION</a:t>
            </a:r>
          </a:p>
        </p:txBody>
      </p:sp>
      <p:pic>
        <p:nvPicPr>
          <p:cNvPr id="7" name="Picture 6" descr="image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81328"/>
            <a:ext cx="4892040" cy="960120"/>
          </a:xfrm>
          <a:prstGeom prst="rect">
            <a:avLst/>
          </a:prstGeom>
        </p:spPr>
      </p:pic>
      <p:pic>
        <p:nvPicPr>
          <p:cNvPr id="8" name="Picture 7" descr="image6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481328"/>
            <a:ext cx="5074920" cy="9601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2578608"/>
            <a:ext cx="5074920" cy="2331720"/>
          </a:xfrm>
          <a:prstGeom prst="roundRect">
            <a:avLst/>
          </a:prstGeom>
          <a:solidFill>
            <a:srgbClr val="EEF4F8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" y="2670048"/>
            <a:ext cx="478231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237841"/>
                </a:solidFill>
                <a:latin typeface="Arial"/>
              </a:rPr>
              <a:t>Challenges We're Solving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3017520"/>
            <a:ext cx="4782312" cy="180136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232323"/>
                </a:solidFill>
                <a:latin typeface="Arial"/>
              </a:rPr>
              <a:t>• Inaccurate boundaries — Old maps made with measuring tapes cause errors and boundary fights between villagers.
• Slow &amp; costly surveys — Traditional physical land surveying takes months to finish and costs a lot of money.
• Missing digital records — Small farmers lose land rights because digital records are missing or outdated.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578608"/>
            <a:ext cx="5074920" cy="2331720"/>
          </a:xfrm>
          <a:prstGeom prst="roundRect">
            <a:avLst/>
          </a:prstGeom>
          <a:solidFill>
            <a:srgbClr val="EEF4F8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01384" y="2670048"/>
            <a:ext cx="478231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237841"/>
                </a:solidFill>
                <a:latin typeface="Arial"/>
              </a:rPr>
              <a:t>Our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1384" y="3017520"/>
            <a:ext cx="4782312" cy="180136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232323"/>
                </a:solidFill>
                <a:latin typeface="Arial"/>
              </a:rPr>
              <a:t>• Smart drone &amp; GPS mapping — Drone photos and satellite GPS measure farms accurately in minutes.
• AI boundary detection — An intelligent system automatically traces farm borders on digital maps.
• Easy mobile dashboard — A simple app lets farmers and officials view and verify land records instantly.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257800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>
                <a:solidFill>
                  <a:srgbClr val="236441"/>
                </a:solidFill>
                <a:latin typeface="Arial"/>
              </a:rPr>
              <a:t>Key outcome: faster surveys, accurate digital boundaries, and accessible land records.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25880" y="91440"/>
            <a:ext cx="954024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28600" y="6327648"/>
            <a:ext cx="1175004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17320" y="164592"/>
            <a:ext cx="9418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Georgia"/>
              </a:rPr>
              <a:t>Problem &amp; Solution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80160" y="0"/>
            <a:ext cx="958596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Rectangle 19"/>
          <p:cNvSpPr/>
          <p:nvPr/>
        </p:nvSpPr>
        <p:spPr>
          <a:xfrm>
            <a:off x="228600" y="6053328"/>
            <a:ext cx="11891802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192024"/>
            <a:ext cx="9418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dirty="0">
                <a:solidFill>
                  <a:srgbClr val="000000"/>
                </a:solidFill>
                <a:latin typeface="Georgia"/>
              </a:rPr>
              <a:t>Problem &amp; Solution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BFAA46C-5C11-82EC-5E65-AD9B2A9B19EC}"/>
              </a:ext>
            </a:extLst>
          </p:cNvPr>
          <p:cNvSpPr/>
          <p:nvPr/>
        </p:nvSpPr>
        <p:spPr>
          <a:xfrm>
            <a:off x="11623313" y="472542"/>
            <a:ext cx="355327" cy="1043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5415A2F-CC59-9988-478B-A0B0C624AE0B}"/>
              </a:ext>
            </a:extLst>
          </p:cNvPr>
          <p:cNvSpPr/>
          <p:nvPr/>
        </p:nvSpPr>
        <p:spPr>
          <a:xfrm>
            <a:off x="0" y="0"/>
            <a:ext cx="124968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lat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5011" y="822960"/>
            <a:ext cx="11973117" cy="5669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17320" y="164592"/>
            <a:ext cx="941832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800" b="1">
                <a:solidFill>
                  <a:srgbClr val="191919"/>
                </a:solidFill>
                <a:latin typeface="Georgia"/>
              </a:rPr>
              <a:t>Technical Approach &amp;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4983480" cy="1325880"/>
          </a:xfrm>
          <a:prstGeom prst="roundRect">
            <a:avLst/>
          </a:prstGeom>
          <a:solidFill>
            <a:srgbClr val="EBF4E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" y="1234440"/>
            <a:ext cx="469087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237841"/>
                </a:solidFill>
                <a:latin typeface="Arial"/>
              </a:rPr>
              <a:t>Step 1 — Data Collection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" y="1581912"/>
            <a:ext cx="4690872" cy="7955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>
                <a:solidFill>
                  <a:srgbClr val="232323"/>
                </a:solidFill>
                <a:latin typeface="Arial"/>
              </a:rPr>
              <a:t>• Fly commercial camera drones over agricultural fields to capture high-definition photos.
• Tag exact GPS coordinates (latitude &amp; longitude) for every corner of the land.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651760"/>
            <a:ext cx="4983480" cy="1325880"/>
          </a:xfrm>
          <a:prstGeom prst="roundRect">
            <a:avLst/>
          </a:prstGeom>
          <a:solidFill>
            <a:srgbClr val="EBF4E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" y="2743200"/>
            <a:ext cx="469087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237841"/>
                </a:solidFill>
                <a:latin typeface="Arial"/>
              </a:rPr>
              <a:t>Step 2 — Smart Image 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3090672"/>
            <a:ext cx="4690872" cy="7955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>
                <a:solidFill>
                  <a:srgbClr val="232323"/>
                </a:solidFill>
                <a:latin typeface="Arial"/>
              </a:rPr>
              <a:t>• Computer vision software automatically traces farm boundaries from drone photos.
• Overlay the new digital drone map on old government paper maps to find errors.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160520"/>
            <a:ext cx="4983480" cy="1325880"/>
          </a:xfrm>
          <a:prstGeom prst="roundRect">
            <a:avLst/>
          </a:prstGeom>
          <a:solidFill>
            <a:srgbClr val="EBF4E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" y="4251959"/>
            <a:ext cx="469087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237841"/>
                </a:solidFill>
                <a:latin typeface="Arial"/>
              </a:rPr>
              <a:t>Step 3 — Mobile App &amp;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4599431"/>
            <a:ext cx="4690872" cy="7955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>
                <a:solidFill>
                  <a:srgbClr val="232323"/>
                </a:solidFill>
                <a:latin typeface="Arial"/>
              </a:rPr>
              <a:t>• Show the clean digital land map on a simple app for farmers and survey officers.
• Generate an instant PDF survey report with exact plot size and digital boundaries.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1115568"/>
            <a:ext cx="57607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2D7346"/>
                </a:solidFill>
                <a:latin typeface="Arial"/>
              </a:rPr>
              <a:t>SYSTEM WORKFLOW / ARCHITECTURE</a:t>
            </a:r>
          </a:p>
        </p:txBody>
      </p:sp>
      <p:pic>
        <p:nvPicPr>
          <p:cNvPr id="15" name="Picture 14" descr="image13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600200"/>
            <a:ext cx="5440680" cy="425196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325880" y="91440"/>
            <a:ext cx="9448801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28600" y="6327648"/>
            <a:ext cx="1175004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17320" y="164592"/>
            <a:ext cx="9418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Georgia"/>
              </a:rPr>
              <a:t>Technical Approach &amp; Workflow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80161" y="0"/>
            <a:ext cx="949452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28600" y="6053328"/>
            <a:ext cx="117500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417320" y="164592"/>
            <a:ext cx="9418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Georgia"/>
              </a:rPr>
              <a:t>Technical Approach &amp; Workflow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EC8001-447B-EA8D-FFF4-80646A86BA67}"/>
              </a:ext>
            </a:extLst>
          </p:cNvPr>
          <p:cNvSpPr/>
          <p:nvPr/>
        </p:nvSpPr>
        <p:spPr>
          <a:xfrm>
            <a:off x="11521440" y="478679"/>
            <a:ext cx="408718" cy="859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3C3779-69E5-0F9D-EE72-35EC7B33D184}"/>
              </a:ext>
            </a:extLst>
          </p:cNvPr>
          <p:cNvSpPr/>
          <p:nvPr/>
        </p:nvSpPr>
        <p:spPr>
          <a:xfrm>
            <a:off x="0" y="0"/>
            <a:ext cx="1264921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lat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43840" y="693471"/>
            <a:ext cx="11963400" cy="592825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17320" y="164592"/>
            <a:ext cx="941832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800" b="1">
                <a:solidFill>
                  <a:srgbClr val="191919"/>
                </a:solidFill>
                <a:latin typeface="Georgia"/>
              </a:rPr>
              <a:t>Project Feasibility &amp; Mitigation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48463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2D7346"/>
                </a:solidFill>
                <a:latin typeface="Arial"/>
              </a:rPr>
              <a:t>WHY THIS PROJECT IS FEASIBLE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1051560"/>
            <a:ext cx="48463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2D7346"/>
                </a:solidFill>
                <a:latin typeface="Arial"/>
              </a:rPr>
              <a:t>RISKS &amp; OUR SOLUTIONS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5074920" cy="1234440"/>
          </a:xfrm>
          <a:prstGeom prst="roundRect">
            <a:avLst/>
          </a:prstGeom>
          <a:solidFill>
            <a:srgbClr val="EEF4F8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" y="1645920"/>
            <a:ext cx="478231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237841"/>
                </a:solidFill>
                <a:latin typeface="Arial"/>
              </a:rPr>
              <a:t>Low hardware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993391"/>
            <a:ext cx="4782312" cy="704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>
                <a:solidFill>
                  <a:srgbClr val="232323"/>
                </a:solidFill>
                <a:latin typeface="Arial"/>
              </a:rPr>
              <a:t>Uses existing commercial drones and smartphone GPS — no expensive specialized equipment.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926080"/>
            <a:ext cx="5074920" cy="1234440"/>
          </a:xfrm>
          <a:prstGeom prst="roundRect">
            <a:avLst/>
          </a:prstGeom>
          <a:solidFill>
            <a:srgbClr val="EEF4F8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" y="3017520"/>
            <a:ext cx="478231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237841"/>
                </a:solidFill>
                <a:latin typeface="Arial"/>
              </a:rPr>
              <a:t>Easy for farmers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3364992"/>
            <a:ext cx="4782312" cy="704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>
                <a:solidFill>
                  <a:srgbClr val="232323"/>
                </a:solidFill>
                <a:latin typeface="Arial"/>
              </a:rPr>
              <a:t>Simple visual interface on mobile phones needs zero technical training.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297680"/>
            <a:ext cx="5074920" cy="1234440"/>
          </a:xfrm>
          <a:prstGeom prst="roundRect">
            <a:avLst/>
          </a:prstGeom>
          <a:solidFill>
            <a:srgbClr val="EEF4F8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" y="4389120"/>
            <a:ext cx="478231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237841"/>
                </a:solidFill>
                <a:latin typeface="Arial"/>
              </a:rPr>
              <a:t>Scalable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4736592"/>
            <a:ext cx="4782312" cy="704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>
                <a:solidFill>
                  <a:srgbClr val="232323"/>
                </a:solidFill>
                <a:latin typeface="Arial"/>
              </a:rPr>
              <a:t>The software can process mapping data for an entire village in a few hours.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554480"/>
            <a:ext cx="5074920" cy="1234440"/>
          </a:xfrm>
          <a:prstGeom prst="roundRect">
            <a:avLst/>
          </a:prstGeom>
          <a:solidFill>
            <a:srgbClr val="EEF8EC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01384" y="1645920"/>
            <a:ext cx="478231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237841"/>
                </a:solidFill>
                <a:latin typeface="Arial"/>
              </a:rPr>
              <a:t>Bad weather / lighting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1993391"/>
            <a:ext cx="4782312" cy="704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>
                <a:solidFill>
                  <a:srgbClr val="232323"/>
                </a:solidFill>
                <a:latin typeface="Arial"/>
              </a:rPr>
              <a:t>Automatic contrast adjustment + flights scheduled during clear daylight hours.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2926080"/>
            <a:ext cx="5074920" cy="1234440"/>
          </a:xfrm>
          <a:prstGeom prst="roundRect">
            <a:avLst/>
          </a:prstGeom>
          <a:solidFill>
            <a:srgbClr val="EEF8EC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01384" y="3017520"/>
            <a:ext cx="478231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237841"/>
                </a:solidFill>
                <a:latin typeface="Arial"/>
              </a:rPr>
              <a:t>Tree cover hides borders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1384" y="3364992"/>
            <a:ext cx="4782312" cy="704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>
                <a:solidFill>
                  <a:srgbClr val="232323"/>
                </a:solidFill>
                <a:latin typeface="Arial"/>
              </a:rPr>
              <a:t>Combine satellite GPS coordinates with drone photos to mark hidden corners.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4297680"/>
            <a:ext cx="5074920" cy="1234440"/>
          </a:xfrm>
          <a:prstGeom prst="roundRect">
            <a:avLst/>
          </a:prstGeom>
          <a:solidFill>
            <a:srgbClr val="EEF8EC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01384" y="4389120"/>
            <a:ext cx="478231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237841"/>
                </a:solidFill>
                <a:latin typeface="Arial"/>
              </a:rPr>
              <a:t>Poor rural connectivity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1384" y="4736592"/>
            <a:ext cx="4782312" cy="704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>
                <a:solidFill>
                  <a:srgbClr val="232323"/>
                </a:solidFill>
                <a:latin typeface="Arial"/>
              </a:rPr>
              <a:t>Offline mode saves map data locally and syncs automatically when back online.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25880" y="91440"/>
            <a:ext cx="9027092" cy="7315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28600" y="6327648"/>
            <a:ext cx="1175004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417320" y="164592"/>
            <a:ext cx="9418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Georgia"/>
              </a:rPr>
              <a:t>Project Feasibility &amp; Mitigation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80160" y="0"/>
            <a:ext cx="9220098" cy="82295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28600" y="6053328"/>
            <a:ext cx="119786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417320" y="164592"/>
            <a:ext cx="9418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Georgia"/>
              </a:rPr>
              <a:t>Project Feasibility &amp; Mitigation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FED10D7-1091-FA92-73C6-D4371F1922AC}"/>
              </a:ext>
            </a:extLst>
          </p:cNvPr>
          <p:cNvSpPr/>
          <p:nvPr/>
        </p:nvSpPr>
        <p:spPr>
          <a:xfrm>
            <a:off x="11430000" y="447995"/>
            <a:ext cx="414242" cy="15955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04FBD3E-E27B-7706-992C-2CEB80EAC107}"/>
              </a:ext>
            </a:extLst>
          </p:cNvPr>
          <p:cNvSpPr/>
          <p:nvPr/>
        </p:nvSpPr>
        <p:spPr>
          <a:xfrm>
            <a:off x="0" y="0"/>
            <a:ext cx="1264919" cy="69347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lat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8599" y="914400"/>
            <a:ext cx="11978641" cy="56214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17320" y="164592"/>
            <a:ext cx="941832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800" b="1">
                <a:solidFill>
                  <a:srgbClr val="191919"/>
                </a:solidFill>
                <a:latin typeface="Georgia"/>
              </a:rPr>
              <a:t>Impact, Benefits &amp; Real-World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50292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2D7346"/>
                </a:solidFill>
                <a:latin typeface="Arial"/>
              </a:rPr>
              <a:t>REAL-WORLD BENEFITS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5486400" cy="914400"/>
          </a:xfrm>
          <a:prstGeom prst="roundRect">
            <a:avLst/>
          </a:prstGeom>
          <a:solidFill>
            <a:srgbClr val="F8EDE0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" y="1600200"/>
            <a:ext cx="519379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A05F37"/>
                </a:solidFill>
                <a:latin typeface="Arial"/>
              </a:rPr>
              <a:t>Saves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1947672"/>
            <a:ext cx="519379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>
                <a:solidFill>
                  <a:srgbClr val="232323"/>
                </a:solidFill>
                <a:latin typeface="Arial"/>
              </a:rPr>
              <a:t>Reduces land survey time from months to just a few hours per village.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532888"/>
            <a:ext cx="5486400" cy="914400"/>
          </a:xfrm>
          <a:prstGeom prst="roundRect">
            <a:avLst/>
          </a:prstGeom>
          <a:solidFill>
            <a:srgbClr val="F8EDE0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" y="2624328"/>
            <a:ext cx="519379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A05F37"/>
                </a:solidFill>
                <a:latin typeface="Arial"/>
              </a:rPr>
              <a:t>100% transparency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2971800"/>
            <a:ext cx="519379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>
                <a:solidFill>
                  <a:srgbClr val="232323"/>
                </a:solidFill>
                <a:latin typeface="Arial"/>
              </a:rPr>
              <a:t>Eliminates human errors, corruption, and manual land manipulation.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557016"/>
            <a:ext cx="5486400" cy="914400"/>
          </a:xfrm>
          <a:prstGeom prst="roundRect">
            <a:avLst/>
          </a:prstGeom>
          <a:solidFill>
            <a:srgbClr val="F8EDE0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" y="3648456"/>
            <a:ext cx="519379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A05F37"/>
                </a:solidFill>
                <a:latin typeface="Arial"/>
              </a:rPr>
              <a:t>Fewer legal fights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" y="3995928"/>
            <a:ext cx="519379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>
                <a:solidFill>
                  <a:srgbClr val="232323"/>
                </a:solidFill>
                <a:latin typeface="Arial"/>
              </a:rPr>
              <a:t>Clear digital boundaries stop boundary disputes between neighboring farmers.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709160"/>
            <a:ext cx="5029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2D7346"/>
                </a:solidFill>
                <a:latin typeface="Arial"/>
              </a:rPr>
              <a:t>WHO BENEFITS?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074920"/>
            <a:ext cx="5486400" cy="868680"/>
          </a:xfrm>
          <a:prstGeom prst="roundRect">
            <a:avLst/>
          </a:prstGeom>
          <a:solidFill>
            <a:srgbClr val="EEF4F8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" y="5166359"/>
            <a:ext cx="519379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237841"/>
                </a:solidFill>
                <a:latin typeface="Arial"/>
              </a:rPr>
              <a:t>Farmers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" y="5513831"/>
            <a:ext cx="5193792" cy="3383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232323"/>
                </a:solidFill>
                <a:latin typeface="Arial"/>
              </a:rPr>
              <a:t>Get official digital land certificates (Pattas) to apply for loans and crop insurance.</a:t>
            </a:r>
          </a:p>
        </p:txBody>
      </p:sp>
      <p:pic>
        <p:nvPicPr>
          <p:cNvPr id="19" name="Picture 18" descr="image23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481328"/>
            <a:ext cx="5074920" cy="274320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446520" y="4434840"/>
            <a:ext cx="5074920" cy="1051560"/>
          </a:xfrm>
          <a:prstGeom prst="roundRect">
            <a:avLst/>
          </a:prstGeom>
          <a:solidFill>
            <a:srgbClr val="EEF4F8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92824" y="4526279"/>
            <a:ext cx="478231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237841"/>
                </a:solidFill>
                <a:latin typeface="Arial"/>
              </a:rPr>
              <a:t>Government (DoLR)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92824" y="4873752"/>
            <a:ext cx="4782312" cy="5212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232323"/>
                </a:solidFill>
                <a:latin typeface="Arial"/>
              </a:rPr>
              <a:t>Maintains an updated, error-free central database of rural land records.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5559552"/>
            <a:ext cx="5074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50" b="0">
                <a:solidFill>
                  <a:srgbClr val="2D2D2D"/>
                </a:solidFill>
                <a:latin typeface="Arial"/>
              </a:rPr>
              <a:t>Village Panchayats can plan roads, water pipelines &amp; public land projects with confidence.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25880" y="91440"/>
            <a:ext cx="9002544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28600" y="6327648"/>
            <a:ext cx="1175004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417320" y="164592"/>
            <a:ext cx="9418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Georgia"/>
              </a:rPr>
              <a:t>Impact, Benefits &amp; Real-World Use Cases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80160" y="0"/>
            <a:ext cx="9164866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28600" y="6053328"/>
            <a:ext cx="119786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417320" y="164592"/>
            <a:ext cx="9418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Georgia"/>
              </a:rPr>
              <a:t>Impact, Benefits &amp; Real-World Use Cases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3A8B747-CE69-5818-F8D4-3C1659A30BE2}"/>
              </a:ext>
            </a:extLst>
          </p:cNvPr>
          <p:cNvSpPr/>
          <p:nvPr/>
        </p:nvSpPr>
        <p:spPr>
          <a:xfrm>
            <a:off x="11375136" y="546185"/>
            <a:ext cx="487516" cy="15790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8153284-29BE-A387-6042-AE783676997A}"/>
              </a:ext>
            </a:extLst>
          </p:cNvPr>
          <p:cNvSpPr/>
          <p:nvPr/>
        </p:nvSpPr>
        <p:spPr>
          <a:xfrm>
            <a:off x="0" y="0"/>
            <a:ext cx="1264919" cy="8686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late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8600" y="1051560"/>
            <a:ext cx="11830434" cy="5303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17320" y="164592"/>
            <a:ext cx="941832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800" b="1">
                <a:solidFill>
                  <a:srgbClr val="191919"/>
                </a:solidFill>
                <a:latin typeface="Georgia"/>
              </a:rPr>
              <a:t>Future Scope &amp;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52120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2D7346"/>
                </a:solidFill>
                <a:latin typeface="Arial"/>
              </a:rPr>
              <a:t>FUTURE 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72768"/>
            <a:ext cx="5486400" cy="1143000"/>
          </a:xfrm>
          <a:prstGeom prst="roundRect">
            <a:avLst/>
          </a:prstGeom>
          <a:solidFill>
            <a:srgbClr val="EEF8EC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" y="1664208"/>
            <a:ext cx="519379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237841"/>
                </a:solidFill>
                <a:latin typeface="Arial"/>
              </a:rPr>
              <a:t>Local languages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2011680"/>
            <a:ext cx="5193792" cy="6126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>
                <a:solidFill>
                  <a:srgbClr val="232323"/>
                </a:solidFill>
                <a:latin typeface="Arial"/>
              </a:rPr>
              <a:t>Add Hindi, Tamil, and other regional languages so farmers can read maps in their own tongue.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871215"/>
            <a:ext cx="5486400" cy="1143000"/>
          </a:xfrm>
          <a:prstGeom prst="roundRect">
            <a:avLst/>
          </a:prstGeom>
          <a:solidFill>
            <a:srgbClr val="EEF8EC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" y="2962656"/>
            <a:ext cx="519379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237841"/>
                </a:solidFill>
                <a:latin typeface="Arial"/>
              </a:rPr>
              <a:t>Crop health 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3310127"/>
            <a:ext cx="5193792" cy="6126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>
                <a:solidFill>
                  <a:srgbClr val="232323"/>
                </a:solidFill>
                <a:latin typeface="Arial"/>
              </a:rPr>
              <a:t>Use the same drone cameras to scan fields for plant diseases and soil quality.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169663"/>
            <a:ext cx="5486400" cy="1143000"/>
          </a:xfrm>
          <a:prstGeom prst="roundRect">
            <a:avLst/>
          </a:prstGeom>
          <a:solidFill>
            <a:srgbClr val="EEF8EC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" y="4261103"/>
            <a:ext cx="519379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237841"/>
                </a:solidFill>
                <a:latin typeface="Arial"/>
              </a:rPr>
              <a:t>Government portal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" y="4608575"/>
            <a:ext cx="5193792" cy="6126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>
                <a:solidFill>
                  <a:srgbClr val="232323"/>
                </a:solidFill>
                <a:latin typeface="Arial"/>
              </a:rPr>
              <a:t>Link directly with SVAMITVA / Bhunaksha portals for real-time official updates.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097280"/>
            <a:ext cx="52120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2D7346"/>
                </a:solidFill>
                <a:latin typeface="Arial"/>
              </a:rPr>
              <a:t>REFERENCES &amp; RESEARCH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572768"/>
            <a:ext cx="5074920" cy="1965960"/>
          </a:xfrm>
          <a:prstGeom prst="roundRect">
            <a:avLst/>
          </a:prstGeom>
          <a:solidFill>
            <a:srgbClr val="EBF4E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47104" y="1664208"/>
            <a:ext cx="478231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237841"/>
                </a:solidFill>
                <a:latin typeface="Arial"/>
              </a:rPr>
              <a:t>Research basis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4" y="2011680"/>
            <a:ext cx="4782312" cy="14356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>
                <a:solidFill>
                  <a:srgbClr val="232323"/>
                </a:solidFill>
                <a:latin typeface="Arial"/>
              </a:rPr>
              <a:t>• Studied the guidelines of the Ministry of Rural Development and the SVAMITVA scheme.
• Researched open-source mapping tools like QGIS and the Google Maps API for accurate GPS plotting.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749039"/>
            <a:ext cx="5074920" cy="1417320"/>
          </a:xfrm>
          <a:prstGeom prst="roundRect">
            <a:avLst/>
          </a:prstGeom>
          <a:solidFill>
            <a:srgbClr val="EEF4F8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47104" y="3840479"/>
            <a:ext cx="478231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237841"/>
                </a:solidFill>
                <a:latin typeface="Arial"/>
              </a:rPr>
              <a:t>Technology focus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187952"/>
            <a:ext cx="4782312" cy="8869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>
                <a:solidFill>
                  <a:srgbClr val="232323"/>
                </a:solidFill>
                <a:latin typeface="Arial"/>
              </a:rPr>
              <a:t>Drone imagery • GPS coordinates • Computer vision • Mobile dashboard • Digital PDF survey reports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989320"/>
            <a:ext cx="10972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700" b="0">
                <a:solidFill>
                  <a:srgbClr val="55915A"/>
                </a:solidFill>
                <a:latin typeface="Georgia"/>
              </a:rPr>
              <a:t>Thank You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25880" y="91440"/>
            <a:ext cx="8431811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28600" y="6327648"/>
            <a:ext cx="1175004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417320" y="164592"/>
            <a:ext cx="9418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Georgia"/>
              </a:rPr>
              <a:t>Future Scope &amp; References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80160" y="0"/>
            <a:ext cx="8581859" cy="88696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28600" y="6053328"/>
            <a:ext cx="1183043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417320" y="164592"/>
            <a:ext cx="9418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Georgia"/>
              </a:rPr>
              <a:t>Future Scope &amp; References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9A89527-4D74-5078-25C8-DB5E9C1F1F9E}"/>
              </a:ext>
            </a:extLst>
          </p:cNvPr>
          <p:cNvSpPr/>
          <p:nvPr/>
        </p:nvSpPr>
        <p:spPr>
          <a:xfrm>
            <a:off x="11126223" y="758952"/>
            <a:ext cx="595280" cy="20116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2BD0476-7E02-2A08-B8B3-A86324F99A9D}"/>
              </a:ext>
            </a:extLst>
          </p:cNvPr>
          <p:cNvSpPr/>
          <p:nvPr/>
        </p:nvSpPr>
        <p:spPr>
          <a:xfrm>
            <a:off x="0" y="0"/>
            <a:ext cx="1280160" cy="8686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670</Words>
  <Application>Microsoft Office PowerPoint</Application>
  <PresentationFormat>Widescreen</PresentationFormat>
  <Paragraphs>79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Moulik</dc:creator>
  <cp:keywords/>
  <dc:description>generated using python-pptx</dc:description>
  <cp:lastModifiedBy>nidhi goyal</cp:lastModifiedBy>
  <cp:revision>2</cp:revision>
  <dcterms:created xsi:type="dcterms:W3CDTF">2013-01-27T09:14:16Z</dcterms:created>
  <dcterms:modified xsi:type="dcterms:W3CDTF">2026-08-30T19:00:33Z</dcterms:modified>
  <cp:category/>
</cp:coreProperties>
</file>